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1"/>
  </p:notesMasterIdLst>
  <p:sldIdLst>
    <p:sldId id="258" r:id="rId5"/>
    <p:sldId id="268" r:id="rId6"/>
    <p:sldId id="269" r:id="rId7"/>
    <p:sldId id="270" r:id="rId8"/>
    <p:sldId id="271"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5" autoAdjust="0"/>
    <p:restoredTop sz="94660"/>
  </p:normalViewPr>
  <p:slideViewPr>
    <p:cSldViewPr snapToGrid="0">
      <p:cViewPr varScale="1">
        <p:scale>
          <a:sx n="75" d="100"/>
          <a:sy n="75" d="100"/>
        </p:scale>
        <p:origin x="660" y="6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818D7-DF4E-4C59-9BBA-548250DAC33A}" type="datetimeFigureOut">
              <a:rPr lang="en-US" smtClean="0"/>
              <a:t>4/27/2023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00A82-9926-4DBA-8BA5-A22EEB8ACF8E}" type="slidenum">
              <a:rPr lang="en-US" smtClean="0"/>
              <a:t>‹#›</a:t>
            </a:fld>
            <a:endParaRPr lang="en-US" dirty="0"/>
          </a:p>
        </p:txBody>
      </p:sp>
    </p:spTree>
    <p:extLst>
      <p:ext uri="{BB962C8B-B14F-4D97-AF65-F5344CB8AC3E}">
        <p14:creationId xmlns:p14="http://schemas.microsoft.com/office/powerpoint/2010/main" val="284234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149229-E3F7-4B08-B8B0-567DB9AE2DBD}"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6026DC-D31F-40BA-B49D-47D87B9BA087}"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2464DF-92FB-4D4C-B2DE-15BC5F46772E}"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F1A99-F4C1-4E12-B7D3-A88A44F4EB10}" type="datetime1">
              <a:rPr lang="en-US" smtClean="0"/>
              <a:t>4/27/2023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2E7458-324C-48F7-80F5-74B19E1CAFEB}" type="datetime1">
              <a:rPr lang="en-US" smtClean="0"/>
              <a:t>4/27/2023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B054C-5E05-4896-867A-8DB56A20C8AC}" type="datetime1">
              <a:rPr lang="en-US" smtClean="0"/>
              <a:t>4/27/2023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94B787-46DA-4B4F-B781-E768630FCF2A}" type="datetime1">
              <a:rPr lang="en-US" smtClean="0"/>
              <a:t>4/27/2023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E38CE2-82D3-4BA2-B844-E7281181CD7A}" type="datetime1">
              <a:rPr lang="en-US" smtClean="0"/>
              <a:t>4/27/2023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0FF511-91B4-4318-A9F6-BECE1367AD14}" type="datetime1">
              <a:rPr lang="en-US" smtClean="0"/>
              <a:t>4/27/2023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5760AF-08CF-488B-8265-5F1D88C1C64E}"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D41802-9AAA-4EB8-B737-B207AD0C712F}"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B27BB6-0FDA-4EDD-A5D1-79FFF12955B7}"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CB08FB-4F0B-44DE-8994-0595D6ECCDCE}"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9AB015-62A3-4A29-BC49-965FA4BE59CA}"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46181-5447-4050-89D3-AA326DE4DA13}"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450F08-CAEB-42BA-9362-548763B98147}" type="datetime1">
              <a:rPr lang="en-US" smtClean="0"/>
              <a:t>4/27/2023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AA39CD9-90D5-49BD-B792-F7F07D136C39}" type="datetime1">
              <a:rPr lang="en-US" smtClean="0"/>
              <a:t>4/27/2023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7"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Isosceles Triangle 40">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Freeform: Shape 46">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6287" y="-8467"/>
            <a:ext cx="9175713"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Isosceles Triangle 48">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2562" y="3271487"/>
            <a:ext cx="220660" cy="1864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2C1D04-249B-46E2-9FAF-8DF29CC445DB}"/>
              </a:ext>
            </a:extLst>
          </p:cNvPr>
          <p:cNvSpPr>
            <a:spLocks noGrp="1"/>
          </p:cNvSpPr>
          <p:nvPr>
            <p:ph type="ctrTitle"/>
          </p:nvPr>
        </p:nvSpPr>
        <p:spPr>
          <a:xfrm>
            <a:off x="4442334" y="404705"/>
            <a:ext cx="6960759" cy="2849671"/>
          </a:xfrm>
        </p:spPr>
        <p:txBody>
          <a:bodyPr>
            <a:normAutofit fontScale="90000"/>
          </a:bodyPr>
          <a:lstStyle/>
          <a:p>
            <a:pPr marL="254000" marR="0">
              <a:lnSpc>
                <a:spcPct val="106000"/>
              </a:lnSpc>
              <a:spcBef>
                <a:spcPts val="1200"/>
              </a:spcBef>
              <a:spcAft>
                <a:spcPts val="1500"/>
              </a:spcAft>
            </a:pPr>
            <a:r>
              <a:rPr lang="en-US" sz="2800" b="1" dirty="0">
                <a:solidFill>
                  <a:schemeClr val="bg1"/>
                </a:solidFill>
                <a:effectLst/>
                <a:latin typeface="Times New Roman" panose="02020603050405020304" pitchFamily="18" charset="0"/>
              </a:rPr>
              <a:t>CSF 407 – ARTIFICIAL INTELLIGENCE</a:t>
            </a:r>
            <a:br>
              <a:rPr lang="en-US" sz="2800" b="1" dirty="0">
                <a:solidFill>
                  <a:schemeClr val="bg1"/>
                </a:solidFill>
                <a:effectLst/>
                <a:latin typeface="Arial" panose="020B0604020202020204" pitchFamily="34" charset="0"/>
              </a:rPr>
            </a:br>
            <a:r>
              <a:rPr lang="en-US" sz="2800" b="1" dirty="0">
                <a:solidFill>
                  <a:schemeClr val="bg1"/>
                </a:solidFill>
                <a:effectLst/>
                <a:latin typeface="Times New Roman" panose="02020603050405020304" pitchFamily="18" charset="0"/>
              </a:rPr>
              <a:t> </a:t>
            </a:r>
            <a:br>
              <a:rPr lang="en-US" sz="2800" b="1" dirty="0">
                <a:solidFill>
                  <a:schemeClr val="bg1"/>
                </a:solidFill>
                <a:effectLst/>
                <a:latin typeface="Arial" panose="020B0604020202020204" pitchFamily="34" charset="0"/>
              </a:rPr>
            </a:br>
            <a:r>
              <a:rPr lang="en-US" sz="2800" b="1" dirty="0">
                <a:solidFill>
                  <a:schemeClr val="bg1"/>
                </a:solidFill>
                <a:effectLst/>
                <a:latin typeface="Times New Roman" panose="02020603050405020304" pitchFamily="18" charset="0"/>
              </a:rPr>
              <a:t>OPTIMAL HEAT EXCHANGER DESIGN</a:t>
            </a:r>
            <a:br>
              <a:rPr lang="en-US" sz="2800" b="1" dirty="0">
                <a:solidFill>
                  <a:schemeClr val="bg1"/>
                </a:solidFill>
                <a:effectLst/>
                <a:latin typeface="Arial" panose="020B0604020202020204" pitchFamily="34" charset="0"/>
              </a:rPr>
            </a:br>
            <a:r>
              <a:rPr lang="en-US" sz="2800" b="1" dirty="0">
                <a:solidFill>
                  <a:schemeClr val="bg1"/>
                </a:solidFill>
                <a:effectLst/>
                <a:latin typeface="Times New Roman" panose="02020603050405020304" pitchFamily="18" charset="0"/>
              </a:rPr>
              <a:t>USING</a:t>
            </a:r>
            <a:br>
              <a:rPr lang="en-US" sz="2800" b="1" dirty="0">
                <a:solidFill>
                  <a:schemeClr val="bg1"/>
                </a:solidFill>
                <a:effectLst/>
                <a:latin typeface="Arial" panose="020B0604020202020204" pitchFamily="34" charset="0"/>
              </a:rPr>
            </a:br>
            <a:r>
              <a:rPr lang="en-US" sz="2800" b="1" dirty="0">
                <a:solidFill>
                  <a:schemeClr val="bg1"/>
                </a:solidFill>
                <a:effectLst/>
                <a:latin typeface="Times New Roman" panose="02020603050405020304" pitchFamily="18" charset="0"/>
              </a:rPr>
              <a:t>  GENETIC ALGORITHMS </a:t>
            </a:r>
            <a:br>
              <a:rPr lang="en-US" sz="2800" b="1" dirty="0">
                <a:solidFill>
                  <a:schemeClr val="bg1"/>
                </a:solidFill>
                <a:effectLst/>
                <a:latin typeface="Arial" panose="020B0604020202020204" pitchFamily="34" charset="0"/>
              </a:rPr>
            </a:br>
            <a:endParaRPr lang="en-US" sz="2800" b="1" dirty="0">
              <a:solidFill>
                <a:schemeClr val="bg1"/>
              </a:solidFill>
            </a:endParaRPr>
          </a:p>
        </p:txBody>
      </p:sp>
      <p:sp>
        <p:nvSpPr>
          <p:cNvPr id="3" name="Subtitle 2">
            <a:extLst>
              <a:ext uri="{FF2B5EF4-FFF2-40B4-BE49-F238E27FC236}">
                <a16:creationId xmlns:a16="http://schemas.microsoft.com/office/drawing/2014/main" id="{728B1921-F533-4F9E-8BF6-80EC4D451D77}"/>
              </a:ext>
            </a:extLst>
          </p:cNvPr>
          <p:cNvSpPr>
            <a:spLocks noGrp="1"/>
          </p:cNvSpPr>
          <p:nvPr>
            <p:ph type="subTitle" idx="1"/>
          </p:nvPr>
        </p:nvSpPr>
        <p:spPr>
          <a:xfrm>
            <a:off x="4515256" y="3042586"/>
            <a:ext cx="6112077" cy="1186108"/>
          </a:xfrm>
        </p:spPr>
        <p:txBody>
          <a:bodyPr>
            <a:normAutofit/>
          </a:bodyPr>
          <a:lstStyle/>
          <a:p>
            <a:pPr algn="l"/>
            <a:r>
              <a:rPr lang="en-IN" sz="1800" b="1" dirty="0">
                <a:solidFill>
                  <a:schemeClr val="bg1"/>
                </a:solidFill>
                <a:effectLst/>
                <a:latin typeface="Times New Roman" panose="02020603050405020304" pitchFamily="18" charset="0"/>
              </a:rPr>
              <a:t>GROUP ID - 60</a:t>
            </a:r>
            <a:endParaRPr lang="en-IN" sz="1800" dirty="0">
              <a:solidFill>
                <a:schemeClr val="bg1"/>
              </a:solidFill>
              <a:effectLst/>
              <a:latin typeface="Arial" panose="020B0604020202020204" pitchFamily="34" charset="0"/>
            </a:endParaRPr>
          </a:p>
          <a:p>
            <a:pPr algn="l"/>
            <a:endParaRPr lang="en-US" dirty="0">
              <a:solidFill>
                <a:srgbClr val="FFFFFF">
                  <a:alpha val="70000"/>
                </a:srgbClr>
              </a:solidFill>
            </a:endParaRPr>
          </a:p>
        </p:txBody>
      </p:sp>
      <p:graphicFrame>
        <p:nvGraphicFramePr>
          <p:cNvPr id="4" name="Content Placeholder 3">
            <a:extLst>
              <a:ext uri="{FF2B5EF4-FFF2-40B4-BE49-F238E27FC236}">
                <a16:creationId xmlns:a16="http://schemas.microsoft.com/office/drawing/2014/main" id="{598072D3-19C0-E486-0838-92998FDC7834}"/>
              </a:ext>
            </a:extLst>
          </p:cNvPr>
          <p:cNvGraphicFramePr>
            <a:graphicFrameLocks/>
          </p:cNvGraphicFramePr>
          <p:nvPr>
            <p:extLst>
              <p:ext uri="{D42A27DB-BD31-4B8C-83A1-F6EECF244321}">
                <p14:modId xmlns:p14="http://schemas.microsoft.com/office/powerpoint/2010/main" val="590454761"/>
              </p:ext>
            </p:extLst>
          </p:nvPr>
        </p:nvGraphicFramePr>
        <p:xfrm>
          <a:off x="4470997" y="3659081"/>
          <a:ext cx="5966619" cy="2480470"/>
        </p:xfrm>
        <a:graphic>
          <a:graphicData uri="http://schemas.openxmlformats.org/drawingml/2006/table">
            <a:tbl>
              <a:tblPr>
                <a:tableStyleId>{5C22544A-7EE6-4342-B048-85BDC9FD1C3A}</a:tableStyleId>
              </a:tblPr>
              <a:tblGrid>
                <a:gridCol w="3139794">
                  <a:extLst>
                    <a:ext uri="{9D8B030D-6E8A-4147-A177-3AD203B41FA5}">
                      <a16:colId xmlns:a16="http://schemas.microsoft.com/office/drawing/2014/main" val="2727475820"/>
                    </a:ext>
                  </a:extLst>
                </a:gridCol>
                <a:gridCol w="2826825">
                  <a:extLst>
                    <a:ext uri="{9D8B030D-6E8A-4147-A177-3AD203B41FA5}">
                      <a16:colId xmlns:a16="http://schemas.microsoft.com/office/drawing/2014/main" val="2578829032"/>
                    </a:ext>
                  </a:extLst>
                </a:gridCol>
              </a:tblGrid>
              <a:tr h="469209">
                <a:tc>
                  <a:txBody>
                    <a:bodyPr/>
                    <a:lstStyle/>
                    <a:p>
                      <a:pPr marL="0" marR="0">
                        <a:lnSpc>
                          <a:spcPct val="106000"/>
                        </a:lnSpc>
                        <a:spcBef>
                          <a:spcPts val="1200"/>
                        </a:spcBef>
                        <a:spcAft>
                          <a:spcPts val="1500"/>
                        </a:spcAft>
                      </a:pPr>
                      <a:r>
                        <a:rPr lang="en-IN" sz="1200" u="none">
                          <a:effectLst/>
                        </a:rPr>
                        <a:t>TEAM MEMBERS ID</a:t>
                      </a:r>
                      <a:endParaRPr lang="en-IN" sz="1100" u="none">
                        <a:effectLst/>
                        <a:latin typeface="Arial" panose="020B0604020202020204" pitchFamily="34" charset="0"/>
                      </a:endParaRPr>
                    </a:p>
                  </a:txBody>
                  <a:tcPr marL="63500" marR="63500"/>
                </a:tc>
                <a:tc>
                  <a:txBody>
                    <a:bodyPr/>
                    <a:lstStyle/>
                    <a:p>
                      <a:pPr marL="0" marR="0">
                        <a:lnSpc>
                          <a:spcPct val="106000"/>
                        </a:lnSpc>
                        <a:spcBef>
                          <a:spcPts val="1200"/>
                        </a:spcBef>
                        <a:spcAft>
                          <a:spcPts val="1500"/>
                        </a:spcAft>
                      </a:pPr>
                      <a:r>
                        <a:rPr lang="en-IN" sz="1200" u="none">
                          <a:effectLst/>
                        </a:rPr>
                        <a:t>NAMES</a:t>
                      </a:r>
                      <a:endParaRPr lang="en-IN" sz="1100" u="none">
                        <a:effectLst/>
                        <a:latin typeface="Arial" panose="020B0604020202020204" pitchFamily="34" charset="0"/>
                      </a:endParaRPr>
                    </a:p>
                  </a:txBody>
                  <a:tcPr marL="63500" marR="63500"/>
                </a:tc>
                <a:extLst>
                  <a:ext uri="{0D108BD9-81ED-4DB2-BD59-A6C34878D82A}">
                    <a16:rowId xmlns:a16="http://schemas.microsoft.com/office/drawing/2014/main" val="384491288"/>
                  </a:ext>
                </a:extLst>
              </a:tr>
              <a:tr h="603634">
                <a:tc>
                  <a:txBody>
                    <a:bodyPr/>
                    <a:lstStyle/>
                    <a:p>
                      <a:pPr marL="0" marR="0">
                        <a:lnSpc>
                          <a:spcPct val="106000"/>
                        </a:lnSpc>
                        <a:spcBef>
                          <a:spcPts val="1200"/>
                        </a:spcBef>
                        <a:spcAft>
                          <a:spcPts val="1500"/>
                        </a:spcAft>
                      </a:pPr>
                      <a:r>
                        <a:rPr lang="en-IN" sz="1200" u="none">
                          <a:effectLst/>
                        </a:rPr>
                        <a:t>1.   2020A1PS0765H                       (Leader)</a:t>
                      </a:r>
                      <a:endParaRPr lang="en-IN" sz="1100" u="none">
                        <a:effectLst/>
                        <a:latin typeface="Arial" panose="020B0604020202020204" pitchFamily="34" charset="0"/>
                      </a:endParaRPr>
                    </a:p>
                  </a:txBody>
                  <a:tcPr marL="63500" marR="63500"/>
                </a:tc>
                <a:tc>
                  <a:txBody>
                    <a:bodyPr/>
                    <a:lstStyle/>
                    <a:p>
                      <a:pPr marL="0" marR="0">
                        <a:lnSpc>
                          <a:spcPct val="106000"/>
                        </a:lnSpc>
                        <a:spcBef>
                          <a:spcPts val="1200"/>
                        </a:spcBef>
                        <a:spcAft>
                          <a:spcPts val="1500"/>
                        </a:spcAft>
                      </a:pPr>
                      <a:r>
                        <a:rPr lang="en-IN" sz="1200" u="none">
                          <a:effectLst/>
                        </a:rPr>
                        <a:t> Krishna Shankar</a:t>
                      </a:r>
                      <a:endParaRPr lang="en-IN" sz="1100" u="none">
                        <a:effectLst/>
                        <a:latin typeface="Arial" panose="020B0604020202020204" pitchFamily="34" charset="0"/>
                      </a:endParaRPr>
                    </a:p>
                  </a:txBody>
                  <a:tcPr marL="63500" marR="63500"/>
                </a:tc>
                <a:extLst>
                  <a:ext uri="{0D108BD9-81ED-4DB2-BD59-A6C34878D82A}">
                    <a16:rowId xmlns:a16="http://schemas.microsoft.com/office/drawing/2014/main" val="3649794460"/>
                  </a:ext>
                </a:extLst>
              </a:tr>
              <a:tr h="469209">
                <a:tc>
                  <a:txBody>
                    <a:bodyPr/>
                    <a:lstStyle/>
                    <a:p>
                      <a:pPr marL="0" marR="0">
                        <a:lnSpc>
                          <a:spcPct val="106000"/>
                        </a:lnSpc>
                        <a:spcBef>
                          <a:spcPts val="1200"/>
                        </a:spcBef>
                        <a:spcAft>
                          <a:spcPts val="1500"/>
                        </a:spcAft>
                      </a:pPr>
                      <a:r>
                        <a:rPr lang="en-IN" sz="1200" u="none" dirty="0">
                          <a:effectLst/>
                        </a:rPr>
                        <a:t>2.   2020A1PS2385H</a:t>
                      </a:r>
                      <a:endParaRPr lang="en-IN" sz="1100" u="none" dirty="0">
                        <a:effectLst/>
                        <a:latin typeface="Arial" panose="020B0604020202020204" pitchFamily="34" charset="0"/>
                      </a:endParaRPr>
                    </a:p>
                  </a:txBody>
                  <a:tcPr marL="63500" marR="63500"/>
                </a:tc>
                <a:tc>
                  <a:txBody>
                    <a:bodyPr/>
                    <a:lstStyle/>
                    <a:p>
                      <a:pPr marL="0" marR="0">
                        <a:lnSpc>
                          <a:spcPct val="106000"/>
                        </a:lnSpc>
                        <a:spcBef>
                          <a:spcPts val="1200"/>
                        </a:spcBef>
                        <a:spcAft>
                          <a:spcPts val="1500"/>
                        </a:spcAft>
                      </a:pPr>
                      <a:r>
                        <a:rPr lang="en-IN" sz="1200" u="none">
                          <a:effectLst/>
                        </a:rPr>
                        <a:t> Zakia Firdous Munshi</a:t>
                      </a:r>
                      <a:endParaRPr lang="en-IN" sz="1100" u="none">
                        <a:effectLst/>
                        <a:latin typeface="Arial" panose="020B0604020202020204" pitchFamily="34" charset="0"/>
                      </a:endParaRPr>
                    </a:p>
                  </a:txBody>
                  <a:tcPr marL="63500" marR="63500"/>
                </a:tc>
                <a:extLst>
                  <a:ext uri="{0D108BD9-81ED-4DB2-BD59-A6C34878D82A}">
                    <a16:rowId xmlns:a16="http://schemas.microsoft.com/office/drawing/2014/main" val="3766414538"/>
                  </a:ext>
                </a:extLst>
              </a:tr>
              <a:tr h="469209">
                <a:tc>
                  <a:txBody>
                    <a:bodyPr/>
                    <a:lstStyle/>
                    <a:p>
                      <a:pPr marL="0" marR="0">
                        <a:lnSpc>
                          <a:spcPct val="106000"/>
                        </a:lnSpc>
                        <a:spcBef>
                          <a:spcPts val="1200"/>
                        </a:spcBef>
                        <a:spcAft>
                          <a:spcPts val="1500"/>
                        </a:spcAft>
                      </a:pPr>
                      <a:r>
                        <a:rPr lang="en-IN" sz="1200" u="none">
                          <a:effectLst/>
                        </a:rPr>
                        <a:t>3.  2020A4PS1956H</a:t>
                      </a:r>
                      <a:endParaRPr lang="en-IN" sz="1100" u="none">
                        <a:effectLst/>
                        <a:latin typeface="Arial" panose="020B0604020202020204" pitchFamily="34" charset="0"/>
                      </a:endParaRPr>
                    </a:p>
                  </a:txBody>
                  <a:tcPr marL="63500" marR="63500"/>
                </a:tc>
                <a:tc>
                  <a:txBody>
                    <a:bodyPr/>
                    <a:lstStyle/>
                    <a:p>
                      <a:pPr marL="0" marR="0">
                        <a:lnSpc>
                          <a:spcPct val="106000"/>
                        </a:lnSpc>
                        <a:spcBef>
                          <a:spcPts val="1200"/>
                        </a:spcBef>
                        <a:spcAft>
                          <a:spcPts val="1500"/>
                        </a:spcAft>
                      </a:pPr>
                      <a:r>
                        <a:rPr lang="en-IN" sz="1200" u="none">
                          <a:effectLst/>
                        </a:rPr>
                        <a:t> Koushik Vennelakanti</a:t>
                      </a:r>
                      <a:endParaRPr lang="en-IN" sz="1100" u="none">
                        <a:effectLst/>
                        <a:latin typeface="Arial" panose="020B0604020202020204" pitchFamily="34" charset="0"/>
                      </a:endParaRPr>
                    </a:p>
                  </a:txBody>
                  <a:tcPr marL="63500" marR="63500"/>
                </a:tc>
                <a:extLst>
                  <a:ext uri="{0D108BD9-81ED-4DB2-BD59-A6C34878D82A}">
                    <a16:rowId xmlns:a16="http://schemas.microsoft.com/office/drawing/2014/main" val="1379310587"/>
                  </a:ext>
                </a:extLst>
              </a:tr>
              <a:tr h="469209">
                <a:tc>
                  <a:txBody>
                    <a:bodyPr/>
                    <a:lstStyle/>
                    <a:p>
                      <a:pPr marL="0" marR="0">
                        <a:lnSpc>
                          <a:spcPct val="106000"/>
                        </a:lnSpc>
                        <a:spcBef>
                          <a:spcPts val="1200"/>
                        </a:spcBef>
                        <a:spcAft>
                          <a:spcPts val="1500"/>
                        </a:spcAft>
                      </a:pPr>
                      <a:r>
                        <a:rPr lang="en-IN" sz="1200" u="none">
                          <a:effectLst/>
                        </a:rPr>
                        <a:t>4.  2020A8PS1468H</a:t>
                      </a:r>
                      <a:endParaRPr lang="en-IN" sz="1100" u="none">
                        <a:effectLst/>
                        <a:latin typeface="Arial" panose="020B0604020202020204" pitchFamily="34" charset="0"/>
                      </a:endParaRPr>
                    </a:p>
                  </a:txBody>
                  <a:tcPr marL="63500" marR="63500"/>
                </a:tc>
                <a:tc>
                  <a:txBody>
                    <a:bodyPr/>
                    <a:lstStyle/>
                    <a:p>
                      <a:pPr marL="0" marR="0">
                        <a:lnSpc>
                          <a:spcPct val="106000"/>
                        </a:lnSpc>
                        <a:spcBef>
                          <a:spcPts val="1200"/>
                        </a:spcBef>
                        <a:spcAft>
                          <a:spcPts val="1500"/>
                        </a:spcAft>
                      </a:pPr>
                      <a:r>
                        <a:rPr lang="en-IN" sz="1200" u="none" dirty="0">
                          <a:effectLst/>
                        </a:rPr>
                        <a:t> Bharath Potluri</a:t>
                      </a:r>
                      <a:endParaRPr lang="en-IN" sz="1100" u="none" dirty="0">
                        <a:effectLst/>
                        <a:latin typeface="Arial" panose="020B0604020202020204" pitchFamily="34" charset="0"/>
                      </a:endParaRPr>
                    </a:p>
                  </a:txBody>
                  <a:tcPr marL="63500" marR="63500"/>
                </a:tc>
                <a:extLst>
                  <a:ext uri="{0D108BD9-81ED-4DB2-BD59-A6C34878D82A}">
                    <a16:rowId xmlns:a16="http://schemas.microsoft.com/office/drawing/2014/main" val="1011862073"/>
                  </a:ext>
                </a:extLst>
              </a:tr>
            </a:tbl>
          </a:graphicData>
        </a:graphic>
      </p:graphicFrame>
    </p:spTree>
    <p:extLst>
      <p:ext uri="{BB962C8B-B14F-4D97-AF65-F5344CB8AC3E}">
        <p14:creationId xmlns:p14="http://schemas.microsoft.com/office/powerpoint/2010/main" val="201568009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D1B92-8C70-BA5B-0F03-DF53CF46D2B1}"/>
              </a:ext>
            </a:extLst>
          </p:cNvPr>
          <p:cNvSpPr>
            <a:spLocks noGrp="1"/>
          </p:cNvSpPr>
          <p:nvPr>
            <p:ph type="title"/>
          </p:nvPr>
        </p:nvSpPr>
        <p:spPr/>
        <p:txBody>
          <a:bodyPr>
            <a:normAutofit/>
          </a:bodyPr>
          <a:lstStyle/>
          <a:p>
            <a:r>
              <a:rPr lang="en-IN" sz="4000" b="1" dirty="0">
                <a:effectLst/>
                <a:latin typeface="Times New Roman" panose="02020603050405020304" pitchFamily="18" charset="0"/>
              </a:rPr>
              <a:t> INTRODUCTION</a:t>
            </a:r>
            <a:endParaRPr lang="en-IN" sz="4000" dirty="0"/>
          </a:p>
        </p:txBody>
      </p:sp>
      <p:sp>
        <p:nvSpPr>
          <p:cNvPr id="3" name="Content Placeholder 2">
            <a:extLst>
              <a:ext uri="{FF2B5EF4-FFF2-40B4-BE49-F238E27FC236}">
                <a16:creationId xmlns:a16="http://schemas.microsoft.com/office/drawing/2014/main" id="{B892E3A3-D40A-FA86-7DC2-07C780314C58}"/>
              </a:ext>
            </a:extLst>
          </p:cNvPr>
          <p:cNvSpPr>
            <a:spLocks noGrp="1"/>
          </p:cNvSpPr>
          <p:nvPr>
            <p:ph idx="1"/>
          </p:nvPr>
        </p:nvSpPr>
        <p:spPr>
          <a:xfrm>
            <a:off x="558800" y="1549401"/>
            <a:ext cx="8715202" cy="4491962"/>
          </a:xfrm>
        </p:spPr>
        <p:txBody>
          <a:bodyPr/>
          <a:lstStyle/>
          <a:p>
            <a:r>
              <a:rPr lang="en-US" sz="1800" dirty="0">
                <a:effectLst/>
                <a:latin typeface="Times New Roman" panose="02020603050405020304" pitchFamily="18" charset="0"/>
              </a:rPr>
              <a:t>A heat exchanger is a device that is used for effective transfer of heat from one fluid(gas or liquid) to another. It has widespread application in chemical engineering and is used in different industries</a:t>
            </a:r>
            <a:endParaRPr lang="en-US" sz="1800" dirty="0">
              <a:effectLst/>
              <a:latin typeface="Arial" panose="020B0604020202020204" pitchFamily="34" charset="0"/>
            </a:endParaRPr>
          </a:p>
          <a:p>
            <a:r>
              <a:rPr lang="en-US" sz="1800" dirty="0">
                <a:effectLst/>
                <a:latin typeface="Times New Roman" panose="02020603050405020304" pitchFamily="18" charset="0"/>
              </a:rPr>
              <a:t>Due to the widespread usage of heat exchangers in industrial processes, both designers and users place a high priority on reducing their cost.</a:t>
            </a:r>
            <a:endParaRPr lang="en-US" sz="1800" dirty="0">
              <a:effectLst/>
              <a:latin typeface="Arial" panose="020B0604020202020204" pitchFamily="34" charset="0"/>
            </a:endParaRPr>
          </a:p>
          <a:p>
            <a:r>
              <a:rPr lang="en-US" sz="1800" dirty="0">
                <a:effectLst/>
                <a:latin typeface="Times New Roman" panose="02020603050405020304" pitchFamily="18" charset="0"/>
              </a:rPr>
              <a:t>Here, we will be specifically studying optimization of the design of shell and tube type heat exchangers. </a:t>
            </a:r>
            <a:endParaRPr lang="en-US" sz="1800" dirty="0">
              <a:effectLst/>
              <a:latin typeface="Arial" panose="020B0604020202020204" pitchFamily="34" charset="0"/>
            </a:endParaRPr>
          </a:p>
          <a:p>
            <a:r>
              <a:rPr lang="en-US" sz="1800" dirty="0">
                <a:effectLst/>
                <a:latin typeface="Times New Roman" panose="02020603050405020304" pitchFamily="18" charset="0"/>
              </a:rPr>
              <a:t>It has a bundle of tubes within a  cylindrical shell and the two fluids (shell side fluid and tube side fluid) flow through the shell and the tubes respectively, separated by the tube wall. The figures in the next slide describe the design of a shell and tube heat exchanger.</a:t>
            </a:r>
            <a:endParaRPr lang="en-US" sz="1800" dirty="0">
              <a:effectLst/>
              <a:latin typeface="Arial" panose="020B0604020202020204" pitchFamily="34" charset="0"/>
            </a:endParaRPr>
          </a:p>
          <a:p>
            <a:endParaRPr lang="en-IN" dirty="0"/>
          </a:p>
        </p:txBody>
      </p:sp>
    </p:spTree>
    <p:extLst>
      <p:ext uri="{BB962C8B-B14F-4D97-AF65-F5344CB8AC3E}">
        <p14:creationId xmlns:p14="http://schemas.microsoft.com/office/powerpoint/2010/main" val="1384708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ADC81-A511-8DC0-ED9A-0D7B141FD994}"/>
              </a:ext>
            </a:extLst>
          </p:cNvPr>
          <p:cNvSpPr>
            <a:spLocks noGrp="1"/>
          </p:cNvSpPr>
          <p:nvPr>
            <p:ph type="title"/>
          </p:nvPr>
        </p:nvSpPr>
        <p:spPr/>
        <p:txBody>
          <a:bodyPr/>
          <a:lstStyle/>
          <a:p>
            <a:r>
              <a:rPr lang="en-IN" dirty="0"/>
              <a:t>Shell and Tube Heat Exchanger</a:t>
            </a:r>
          </a:p>
        </p:txBody>
      </p:sp>
      <p:pic>
        <p:nvPicPr>
          <p:cNvPr id="4" name="image4.png">
            <a:extLst>
              <a:ext uri="{FF2B5EF4-FFF2-40B4-BE49-F238E27FC236}">
                <a16:creationId xmlns:a16="http://schemas.microsoft.com/office/drawing/2014/main" id="{DF90E35B-672A-D1CF-596B-50BB2BB7A8FE}"/>
              </a:ext>
            </a:extLst>
          </p:cNvPr>
          <p:cNvPicPr preferRelativeResize="0">
            <a:picLocks noGrp="1"/>
          </p:cNvPicPr>
          <p:nvPr>
            <p:ph idx="1"/>
          </p:nvPr>
        </p:nvPicPr>
        <p:blipFill>
          <a:blip r:embed="rId2"/>
          <a:srcRect/>
          <a:stretch>
            <a:fillRect/>
          </a:stretch>
        </p:blipFill>
        <p:spPr>
          <a:xfrm>
            <a:off x="256360" y="1380125"/>
            <a:ext cx="5839640" cy="2953162"/>
          </a:xfrm>
          <a:prstGeom prst="rect">
            <a:avLst/>
          </a:prstGeom>
        </p:spPr>
      </p:pic>
      <p:pic>
        <p:nvPicPr>
          <p:cNvPr id="5" name="image6.png">
            <a:extLst>
              <a:ext uri="{FF2B5EF4-FFF2-40B4-BE49-F238E27FC236}">
                <a16:creationId xmlns:a16="http://schemas.microsoft.com/office/drawing/2014/main" id="{2E96BBED-5EF7-3B2F-B9A1-1F41E48C33C8}"/>
              </a:ext>
            </a:extLst>
          </p:cNvPr>
          <p:cNvPicPr preferRelativeResize="0"/>
          <p:nvPr/>
        </p:nvPicPr>
        <p:blipFill>
          <a:blip r:embed="rId3"/>
          <a:srcRect/>
          <a:stretch>
            <a:fillRect/>
          </a:stretch>
        </p:blipFill>
        <p:spPr>
          <a:xfrm>
            <a:off x="6334940" y="2856706"/>
            <a:ext cx="5562600" cy="3724275"/>
          </a:xfrm>
          <a:prstGeom prst="rect">
            <a:avLst/>
          </a:prstGeom>
        </p:spPr>
      </p:pic>
    </p:spTree>
    <p:extLst>
      <p:ext uri="{BB962C8B-B14F-4D97-AF65-F5344CB8AC3E}">
        <p14:creationId xmlns:p14="http://schemas.microsoft.com/office/powerpoint/2010/main" val="1425927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0D3C2-79F4-F6F3-F526-4EE82B365793}"/>
              </a:ext>
            </a:extLst>
          </p:cNvPr>
          <p:cNvSpPr>
            <a:spLocks noGrp="1"/>
          </p:cNvSpPr>
          <p:nvPr>
            <p:ph idx="1"/>
          </p:nvPr>
        </p:nvSpPr>
        <p:spPr>
          <a:xfrm>
            <a:off x="660400" y="508001"/>
            <a:ext cx="8613602" cy="5533362"/>
          </a:xfrm>
        </p:spPr>
        <p:txBody>
          <a:bodyPr>
            <a:normAutofit/>
          </a:bodyPr>
          <a:lstStyle/>
          <a:p>
            <a:r>
              <a:rPr lang="en-US" sz="1800" dirty="0">
                <a:effectLst/>
                <a:latin typeface="Times New Roman" panose="02020603050405020304" pitchFamily="18" charset="0"/>
              </a:rPr>
              <a:t>The process for designing shell and tube heat exchangers optimally is suggested in this study. It makes use of a genetic algorithm to reduce the equipment's overall cost, which includes the capital investment and the total of discounted yearly energy costs associated to pumping. </a:t>
            </a:r>
          </a:p>
          <a:p>
            <a:r>
              <a:rPr lang="en-US" dirty="0">
                <a:latin typeface="Times New Roman" panose="02020603050405020304" pitchFamily="18" charset="0"/>
              </a:rPr>
              <a:t>In the literature we see that there is significant cost savings when designed using GA over conventional methods.</a:t>
            </a:r>
          </a:p>
          <a:p>
            <a:r>
              <a:rPr lang="en-US" dirty="0">
                <a:latin typeface="Times New Roman" panose="02020603050405020304" pitchFamily="18" charset="0"/>
              </a:rPr>
              <a:t>Genetic algorithms are a class of optimization algorithms that are based on the principles of natural selection and genetics. They are inspired by the process of evolution in nature, and they work by creating a population of potential solutions and iteratively refining these solutions over multiple generations. At each iteration, the algorithm evaluates the fitness of each solution in the population, selects the most fit individuals, and applies genetic operators such as mutation and crossover to create new candidate solutions.</a:t>
            </a:r>
          </a:p>
          <a:p>
            <a:endParaRPr lang="en-US" dirty="0">
              <a:latin typeface="Times New Roman" panose="02020603050405020304" pitchFamily="18" charset="0"/>
            </a:endParaRPr>
          </a:p>
        </p:txBody>
      </p:sp>
    </p:spTree>
    <p:extLst>
      <p:ext uri="{BB962C8B-B14F-4D97-AF65-F5344CB8AC3E}">
        <p14:creationId xmlns:p14="http://schemas.microsoft.com/office/powerpoint/2010/main" val="2927766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3DE706-BF5C-897D-34D5-A245DB015F28}"/>
              </a:ext>
            </a:extLst>
          </p:cNvPr>
          <p:cNvSpPr>
            <a:spLocks noGrp="1"/>
          </p:cNvSpPr>
          <p:nvPr>
            <p:ph idx="1"/>
          </p:nvPr>
        </p:nvSpPr>
        <p:spPr>
          <a:xfrm>
            <a:off x="609600" y="609601"/>
            <a:ext cx="8664402" cy="5431762"/>
          </a:xfrm>
        </p:spPr>
        <p:txBody>
          <a:bodyPr/>
          <a:lstStyle/>
          <a:p>
            <a:r>
              <a:rPr lang="en-US" dirty="0">
                <a:latin typeface="Times New Roman" panose="02020603050405020304" pitchFamily="18" charset="0"/>
              </a:rPr>
              <a:t>In the context of heat exchanger design, genetic algorithms can be used to optimize a wide range of design parameters, such as the heat transfer surface area, the flow rate of the fluids, and the geometric configuration of the exchanger. The algorithm works by defining a fitness function that quantifies the performance of each potential solution in the population. This function can be based on a variety of criteria, such as the overall heat transfer rate, the pressure drop across the exchanger, or the cost of materials and construction.</a:t>
            </a:r>
          </a:p>
          <a:p>
            <a:r>
              <a:rPr lang="en-US" dirty="0">
                <a:latin typeface="Times New Roman" panose="02020603050405020304" pitchFamily="18" charset="0"/>
              </a:rPr>
              <a:t>By leveraging the principles of natural selection and genetics, these algorithms can efficiently explore a large search space, handle multiple objectives simultaneously, and converge on an optimal design that meets the requirements of the application.</a:t>
            </a:r>
            <a:endParaRPr lang="en-IN" dirty="0">
              <a:latin typeface="Times New Roman" panose="02020603050405020304" pitchFamily="18" charset="0"/>
            </a:endParaRPr>
          </a:p>
          <a:p>
            <a:endParaRPr lang="en-IN" dirty="0"/>
          </a:p>
        </p:txBody>
      </p:sp>
      <p:pic>
        <p:nvPicPr>
          <p:cNvPr id="4" name="image5.png">
            <a:extLst>
              <a:ext uri="{FF2B5EF4-FFF2-40B4-BE49-F238E27FC236}">
                <a16:creationId xmlns:a16="http://schemas.microsoft.com/office/drawing/2014/main" id="{2020E618-27DB-AB36-D97D-832B4EEA2C1B}"/>
              </a:ext>
            </a:extLst>
          </p:cNvPr>
          <p:cNvPicPr preferRelativeResize="0"/>
          <p:nvPr/>
        </p:nvPicPr>
        <p:blipFill>
          <a:blip r:embed="rId2"/>
          <a:srcRect/>
          <a:stretch>
            <a:fillRect/>
          </a:stretch>
        </p:blipFill>
        <p:spPr>
          <a:xfrm>
            <a:off x="6843712" y="4100975"/>
            <a:ext cx="5057775" cy="2581275"/>
          </a:xfrm>
          <a:prstGeom prst="rect">
            <a:avLst/>
          </a:prstGeom>
        </p:spPr>
      </p:pic>
      <p:pic>
        <p:nvPicPr>
          <p:cNvPr id="5" name="image1.png">
            <a:extLst>
              <a:ext uri="{FF2B5EF4-FFF2-40B4-BE49-F238E27FC236}">
                <a16:creationId xmlns:a16="http://schemas.microsoft.com/office/drawing/2014/main" id="{206CC963-CBF5-2D42-447D-F9351200D428}"/>
              </a:ext>
            </a:extLst>
          </p:cNvPr>
          <p:cNvPicPr preferRelativeResize="0"/>
          <p:nvPr/>
        </p:nvPicPr>
        <p:blipFill>
          <a:blip r:embed="rId3"/>
          <a:srcRect/>
          <a:stretch>
            <a:fillRect/>
          </a:stretch>
        </p:blipFill>
        <p:spPr>
          <a:xfrm>
            <a:off x="290513" y="3848100"/>
            <a:ext cx="5640387" cy="2834150"/>
          </a:xfrm>
          <a:prstGeom prst="rect">
            <a:avLst/>
          </a:prstGeom>
        </p:spPr>
      </p:pic>
    </p:spTree>
    <p:extLst>
      <p:ext uri="{BB962C8B-B14F-4D97-AF65-F5344CB8AC3E}">
        <p14:creationId xmlns:p14="http://schemas.microsoft.com/office/powerpoint/2010/main" val="3884796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02435-0175-6029-BA96-8D6556228240}"/>
              </a:ext>
            </a:extLst>
          </p:cNvPr>
          <p:cNvSpPr>
            <a:spLocks noGrp="1"/>
          </p:cNvSpPr>
          <p:nvPr>
            <p:ph type="title"/>
          </p:nvPr>
        </p:nvSpPr>
        <p:spPr>
          <a:xfrm>
            <a:off x="677334" y="0"/>
            <a:ext cx="8301566" cy="660400"/>
          </a:xfrm>
        </p:spPr>
        <p:txBody>
          <a:bodyPr/>
          <a:lstStyle/>
          <a:p>
            <a:r>
              <a:rPr lang="en-IN" dirty="0"/>
              <a:t>The code</a:t>
            </a:r>
          </a:p>
        </p:txBody>
      </p:sp>
      <p:pic>
        <p:nvPicPr>
          <p:cNvPr id="9" name="Picture 8">
            <a:extLst>
              <a:ext uri="{FF2B5EF4-FFF2-40B4-BE49-F238E27FC236}">
                <a16:creationId xmlns:a16="http://schemas.microsoft.com/office/drawing/2014/main" id="{8E6F2EC3-E433-BC24-E9F1-F2AB767F3E40}"/>
              </a:ext>
            </a:extLst>
          </p:cNvPr>
          <p:cNvPicPr>
            <a:picLocks noChangeAspect="1"/>
          </p:cNvPicPr>
          <p:nvPr/>
        </p:nvPicPr>
        <p:blipFill>
          <a:blip r:embed="rId2"/>
          <a:stretch>
            <a:fillRect/>
          </a:stretch>
        </p:blipFill>
        <p:spPr>
          <a:xfrm>
            <a:off x="299728" y="792827"/>
            <a:ext cx="4602472" cy="5899082"/>
          </a:xfrm>
          <a:prstGeom prst="rect">
            <a:avLst/>
          </a:prstGeom>
        </p:spPr>
      </p:pic>
      <p:pic>
        <p:nvPicPr>
          <p:cNvPr id="11" name="Picture 10">
            <a:extLst>
              <a:ext uri="{FF2B5EF4-FFF2-40B4-BE49-F238E27FC236}">
                <a16:creationId xmlns:a16="http://schemas.microsoft.com/office/drawing/2014/main" id="{1039C36A-161C-60A8-8E6C-3E94D6442699}"/>
              </a:ext>
            </a:extLst>
          </p:cNvPr>
          <p:cNvPicPr>
            <a:picLocks noChangeAspect="1"/>
          </p:cNvPicPr>
          <p:nvPr/>
        </p:nvPicPr>
        <p:blipFill>
          <a:blip r:embed="rId3"/>
          <a:stretch>
            <a:fillRect/>
          </a:stretch>
        </p:blipFill>
        <p:spPr>
          <a:xfrm>
            <a:off x="5087426" y="0"/>
            <a:ext cx="5744377" cy="4696480"/>
          </a:xfrm>
          <a:prstGeom prst="rect">
            <a:avLst/>
          </a:prstGeom>
        </p:spPr>
      </p:pic>
      <p:pic>
        <p:nvPicPr>
          <p:cNvPr id="13" name="Picture 12">
            <a:extLst>
              <a:ext uri="{FF2B5EF4-FFF2-40B4-BE49-F238E27FC236}">
                <a16:creationId xmlns:a16="http://schemas.microsoft.com/office/drawing/2014/main" id="{4B581604-FAD5-FB06-72BD-BF1A4F58070D}"/>
              </a:ext>
            </a:extLst>
          </p:cNvPr>
          <p:cNvPicPr>
            <a:picLocks noChangeAspect="1"/>
          </p:cNvPicPr>
          <p:nvPr/>
        </p:nvPicPr>
        <p:blipFill>
          <a:blip r:embed="rId4"/>
          <a:stretch>
            <a:fillRect/>
          </a:stretch>
        </p:blipFill>
        <p:spPr>
          <a:xfrm>
            <a:off x="5087426" y="4696480"/>
            <a:ext cx="7325747" cy="2419688"/>
          </a:xfrm>
          <a:prstGeom prst="rect">
            <a:avLst/>
          </a:prstGeom>
        </p:spPr>
      </p:pic>
    </p:spTree>
    <p:extLst>
      <p:ext uri="{BB962C8B-B14F-4D97-AF65-F5344CB8AC3E}">
        <p14:creationId xmlns:p14="http://schemas.microsoft.com/office/powerpoint/2010/main" val="274628853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24F515-356D-4532-BE08-F6D7771916F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AEF1282-A6E9-4912-8AB9-8ED69BF7097D}">
  <ds:schemaRefs>
    <ds:schemaRef ds:uri="http://schemas.microsoft.com/sharepoint/v3/contenttype/forms"/>
  </ds:schemaRefs>
</ds:datastoreItem>
</file>

<file path=customXml/itemProps3.xml><?xml version="1.0" encoding="utf-8"?>
<ds:datastoreItem xmlns:ds="http://schemas.openxmlformats.org/officeDocument/2006/customXml" ds:itemID="{83E04B51-1D33-4F14-BBD7-79D7D27E2E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 design</Template>
  <TotalTime>88</TotalTime>
  <Words>492</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Times New Roman</vt:lpstr>
      <vt:lpstr>Trebuchet MS</vt:lpstr>
      <vt:lpstr>Wingdings 3</vt:lpstr>
      <vt:lpstr>Facet</vt:lpstr>
      <vt:lpstr>CSF 407 – ARTIFICIAL INTELLIGENCE   OPTIMAL HEAT EXCHANGER DESIGN USING   GENETIC ALGORITHMS  </vt:lpstr>
      <vt:lpstr> INTRODUCTION</vt:lpstr>
      <vt:lpstr>Shell and Tube Heat Exchanger</vt:lpstr>
      <vt:lpstr>PowerPoint Presentation</vt:lpstr>
      <vt:lpstr>PowerPoint Presentation</vt:lpstr>
      <vt:lpstr>The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CSF 407 – ARTIFICIAL INTELLIGENCE   OPTIMAL HEAT EXCHANGER DESIGN USING   GENETIC ALGORITHMS  </dc:title>
  <dc:creator>Zakia Firdous</dc:creator>
  <cp:lastModifiedBy>Zakia Firdous</cp:lastModifiedBy>
  <cp:revision>1</cp:revision>
  <dcterms:created xsi:type="dcterms:W3CDTF">2023-04-26T18:38:10Z</dcterms:created>
  <dcterms:modified xsi:type="dcterms:W3CDTF">2023-04-26T20:07:03Z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